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KIU – FACULTY OF COMPUTER SCIENCE &amp; COMPUTER ENGINEERING</a:t>
            </a:r>
            <a:br/>
            <a:r>
              <a:t>BSc (Hons) in Computer Networks &amp; Cyber Security</a:t>
            </a:r>
          </a:p>
          <a:p>
            <a:br/>
            <a:pPr>
              <a:defRPr sz="2400" b="1">
                <a:solidFill>
                  <a:srgbClr val="F8FAFC"/>
                </a:solidFill>
              </a:defRPr>
            </a:pPr>
            <a:r>
              <a:t>Reducing Security Risks with Privileged Access Management:</a:t>
            </a:r>
            <a:br/>
            <a:r>
              <a:t>Real-Time Authentication and User Behavior Analysis using ML</a:t>
            </a:r>
          </a:p>
          <a:p>
            <a:br/>
            <a:pPr>
              <a:defRPr sz="1300">
                <a:solidFill>
                  <a:srgbClr val="38BDF8"/>
                </a:solidFill>
              </a:defRPr>
            </a:pPr>
            <a:r>
              <a:t>Final Year Individual Project Defense | Subject Code: COM4901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Student Name: W.M.P.D. Wickramasinghe  |  Index No: 11312  |  Batch: 08</a:t>
            </a:r>
            <a:br/>
            <a:r>
              <a:t>Project Supervisor: Mr. Mevan Jayathilaka</a:t>
            </a:r>
            <a:br/>
            <a:r>
              <a:t>Submission Date: August 31,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Problem Background: The Crisis of Privileged Access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[GLOBAL CONTEXT]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The Enterprise Cyber Threat Landscape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82%+ of enterprise breaches involve compromised credentials or privileged misuse (Verizon DBIR).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Privileged accounts (root, sysadmin, DB admin) represent the 'keys to the digital kingdom'.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Average breach cost involving privileged misuse exceeds $4.45 Million with a 327-day average dwell time (IBM Security).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Adversaries bypass traditional perimeter firewalls entirely once credentials are stolen.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[CASE STUDY]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Sri Lankan Context: The 2023 LGC Incident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August 2023 Lanka Government Cloud (LGC) Breach: Stolen administrative credentials led to complete data deletion across dozens of ministries.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Perimeter firewalls and static PAM rules were completely ineffective against authenticated sessions.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Zero real-time behavioral anomaly detection allowed attacker to operate unhindered for hours.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Acute DFIR skills shortage and 40% YoY rise in local attacks demand autonomous, intelligent PAM.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Problem Definition &amp; The 3 Critical Research Gaps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[RESEARCH GAP 1]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Gap 1: Modern Auth in PAM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Traditional PAM relies on heavy RDP/SSH jump hosts or password vault checkouts.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OAuth 2.0 (RFC 6749) remains underexplored for stateless token-level delegation and instant revocation.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[RESEARCH GAP 2]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Gap 2: Active ML Privilege Control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Existing ML research is theoretical and tested on offline network logs (KDD Cup).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Commercial PAM treats UEBA as a passive post-event alerting module rather than an active enforcer in the execution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[RESEARCH GAP 3]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Gap 3: Unified Security Framework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Lack of cohesive frameworks unifying multi-mode auth, granular RBAC, real-time ML risk scoring, 3-strike revocation, and compliance reporting.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Tool fragmentation causes severe alert fatigue.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Research Aim &amp; Specific Objectives (100% Accomplished)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[CORE AIM]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Overarching Research Aim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To design, develop, and rigorously evaluate a dynamic Privileged Access Management (PAM) system...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...that enhances enterprise cybersecurity posture through seamless integration of real-time OAuth 2.0 authentication...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...with machine learning-driven user behavior analysis (UEBA) for proactive, dynamic, risk-based access control.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[OBJECTIVES ROADMAP]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8 Measurable Research Objectives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1: Critical commercial PAM vulnerability analysis (6 wks) - [DONE]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2: Industry survey with 115 security professionals (8 wks) - [DONE]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3: OAuth 2.0 &amp; multi-mode auth engine development (12 wks) - [DONE]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4: Isolation Forest behavior analysis engine (&gt;85% acc) (14 wks) - [DONE]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5: Real-time dynamic 3-strike revocation controller (16 wks) - [DONE]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6: Responsive SPA dashboard &amp; 6-scenario simulator (18 wks) - [DONE]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7: Comprehensive testing (1,555 benchmark events) (20 wks) - [DONE]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Obj 8: Full dissertation authoring &amp; public repositories (22 wks) - [DONE]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Literature Review: Comparative Analysis with State-of-the-Art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[COMMERCIAL STATE]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Commercial PAM Platforms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CyberArk PAM: Vault-centric; session recording; UEBA is add-on; manual session cut.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BeyondTrust: Endpoint privilege manager; static schedules; lacks sub-second ML models.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Delinea Secret Server: Cloud vault; static role definitions; alerting only.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[ACADEMIC GAPS]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Academic Approaches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Deep learning (LSTM, Autoencoders, SVM) on offline datasets (KDD99, DARPA).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No UI or deployment framework.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Fails to integrate ML inference into active session execution controllers.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[OUR CONTRIBUTION]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Proposed SecureSafe PAM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Behavior-driven, dynamic, adaptive, and risk-centric.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Native OAuth 2.0 + Multi-Mode Login.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Core ML enforcer directly embedded in critical execution path.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Automated 3-strike escalation and instant token revocation.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Methodology: Design Science Research (DSR) &amp; Prototyping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[RESEARCH STRATEGY]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DSR 6-Stage Process Model (Hevner et al.)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1. Problem Identification: Quantified static PAM failures and LGC breach.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2. Define Solution Objectives: &gt;85% ML accuracy, &lt;3s response, auto-revocation.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3. Design &amp; Development: Built 4-tier Python/Flask + Isolation Forest architecture.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4. Demonstration: Executed 6 live threat demonstration scenarios.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5. Empirical Evaluation: Benchmarked 1,555 events, confusion matrix, ROC curves.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6. Communication: 83-page dissertation, logbook, and public repository.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[ENGINEERING LIFECYCLE]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Iterative &amp; Incremental Development Cycles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Cycle 1: Core Auth &amp; 21-permission RBAC Engine (OAuth 2.0, scrypt).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Cycle 2: Telemetry Logging &amp; ML Behavioral Modeling (train.py, joblib).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Cycle 3: Dynamic 3-Strike Controller &amp; Automated SMTP Onboarding.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Cycle 4: SPA Dashboard, 6-Scenario Simulator &amp; 9-Sheet Excel Generator.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Validation: Industry Survey Findings (N=115)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[SURVEY INSIGHTS]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Survey Demographics &amp; Risk Perceptions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High Sample Validity: 90%+ respondents administer privileged credentials daily (46.1% Admins, 22.6% IT Execs, 21.7% Security Analysts).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Acute Risk Concern: 74.8% express major concern over privileged account compromise.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Threat Vectors: External theft/phishing (51.3%) and malicious insiders (22.6%).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PAM Gap: 73.0% lack dedicated PAM; 21.7% still store master passwords in shared spreadsheets!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[CORE SYSTEM DRIVERS]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Acceptance of Automated Security &amp; Concerns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53.9% endorse automated session revocation over human manual triage during active attacks.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78.3% demand zero-day anomaly detection capabilities over static rules.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Primary Barrier: False Positives (49.6%) is the #1 concern (blocking legitimate users).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Design Impact: Direct mandate for high specificity (&gt;95%) and progressive 3-strike escalation.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Architecture: 4-Tier Component Blueprint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[TIER 1]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Tier 1: Presentation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Vanilla JS (ES6+)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TailwindCSS Dark UI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Admin Dashboard SPA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Privileged User Portal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Live Event Polling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[TIER 2]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Tier 2: Business Logic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Python 3.9+ / Flask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OAuth 2.0 Flow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21-Permission RBAC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3-Strike Controller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SMTP Onboarding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[TIER 3]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Tier 3: Analytics / ML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Isolation Forest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OneHotEncoder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Contextual Risk Score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Anomaly Reason Extr.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11.8ms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[TIER 4]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Tier 4: Data Access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users.json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roles.json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system_settings.json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real_activity.log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risk_model.joblib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Machine Learning Engine: Isolation Forest &amp; Multi-Factor Scoring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[ML ALGORITHM]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Isolation Forest Mathematical Formulation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Anomalies are 'few and different' — isolated with fewer random tree splits.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Anomaly Score: s(x, n) = 2^(-E(h(x)) / c(n))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Trained with contamination=0.05, n_estimators=100.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Inputs: hour, ip_is_local, action_type, user_role.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Sub-second in-memory inference serialized via Joblib (11.8 ms).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[MULTI-FACTOR HEURISTICS]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Contextual Heuristic Risk Calculation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Base Action Score: RUN_QUERY (45), DELETE_TABLE (95), SHUTDOWN_ROUTER (95), rm -rf / (95).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Unauthorized RBAC Attempt: max(risk, 90) + RBAC violation flag.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Off-Hours Penalty (+30): Access outside 08:00–17:00 window.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Non-Local / Foreign IP Penalty (+40): External IP connection.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ML Outlier Flag (+15): Isolation Forest anomaly detection.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Final Risk Score clamped strictly between 0 and 100.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Dynamic 3-Strike Escalation &amp; Auto-Revocation Controller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[PROGRESSIVE MITIGATION]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Graduated Escalation State Machine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Strike 1 (Risk &gt;= 95): First high-risk breach flagged; heightened monitoring enabled.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Strike 2 (Risk &gt;= 95): Second critical infraction; administrator alert dispatched.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Strike 3 (Risk &gt;= 95): Immediate session termination; OAuth token revoked; user locked.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Catastrophic Override: Destructive root commands (e.g., 'rm -rf /') trigger instant 3/3 revocation without delay.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[AUTO-REVOCATION]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Sub-Second Enforcement &amp; Middleware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Active session state updated in-memory (active_sessions dictionary).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Session validation middleware blocks subsequent HTTP requests immediately with HTTP 403.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User browser interface automatically redirects to /access-revoked screen in &lt;0.5s.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Completely eliminates the 49.6% false positive fear through multi-tier progressive defense.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Multi-Mode Authentication &amp; Automated Onboarding Subsystem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[AUTH MODES]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1. Multi-Mode Login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Google OAuth 2.0: Delegated authorization code grant flow with ID token verification.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Enterprise Password: Salted scrypt hashing (Werkzeug).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Quick Demo Login: Instant 1-click evaluation across 4 preset roles.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[INVITE WORKFLOW]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2. User Onboarding Engine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Admin invites user by role.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Auto-generates cryptographically strong temporary password (Pam#...).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Enforces mandatory password reset on initial sign-in.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[EMAIL DISPATCH]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3. Live SMTP Dispatcher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Dispatches branded HTML invitation emails via Gmail STARTTLS.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Full support for Gmail Plus-Addressing (user+alias@gmail.com).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Smart Outbox log tracking delivery statuses.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Granular Role-Based Access Control (21 System Permissions)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[ROLE CATALOG]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Built-In &amp; Custom PAM Roles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System Admin (*): Full unrestricted administrative control.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Database Admin (db:*): Connect, Query, Backup, Drop tables.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Network Engineer (net:*): SSH router, Ping, Firewall, Shutdown.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App Developer (app:*): Manage server, Deploy, Git pull, IAM, Root.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Security Auditor: Read-only access to dashboard and alerts.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Dynamic Custom Roles: Admins can author and edit roles on the fly.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[PERMISSION MATRIX]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21 Granular System Permissions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Database Domain: db:connect, db:query, db:backup, db:delete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Network Domain: net:ssh, net:ping, net:firewall, net:shutdown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Application Domain: app:server, app:deploy, app:git, app:iam, app:rmrf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Administrative Domain: admin:dashboard, admin:sessions, admin:alerts, admin:analytics, admin:onboarding, admin:roles, admin:simulator, admin:settings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Live Threat Simulator: 6 Real-World Demonstration Scenarios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[SCENARIOS 1-2]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Benign &amp; Low Risk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Scenario 1: Standard SQL Query (Normal daytime execution, Score: 45, 0 strikes).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Scenario 2: Off-Hours SSH Access (Executed at 23:00, Score: 85, Alert logged).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[SCENARIOS 3-4]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High Risk Anomalies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Scenario 3: Foreign IP IAM Escalation (External non-local IP, Score: 100, 1 strike).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Scenario 4: Critical DROP TABLE (Production database destruction, Score: 95, 1 strike).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[SCENARIOS 5-6]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Critical Threat &amp; Revocation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Scenario 5: Router Emergency Shutdown (Core network switch shutdown, Score: 95, 1 strike).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Scenario 6: Catastrophic rm -rf / (Filesystem root deletion, Score: 100, Instant 3/3 strike revocation).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Excel Activity Report: 9 Formatted Worksheets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[SHEETS 1 - 5]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Worksheet Structure (OpenPyXL Engine)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1: Cover &amp; Summary (Executive KPI cards, risk matrix, user status).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2: Event Log (Chronological audit trail with color-coded risk badges).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3: Active Sessions (Real-time sessions with strike counts &amp; revoked tags).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4: Security Alerts (High-risk anomalies with ML reason descriptions).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5: Onboarded Users (Identity registry with onboarding timestamps).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[SHEETS 6 - 9]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Compliance &amp; Telemetry Worksheets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6: Role Permissions (Catalog + 21-permission matrix with checkmarks).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7: Auth Log (Raw authentication attempts from auth_activity.log).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8: Command Telemetry (Hourly execution telemetry).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Sheet 9: Email Outbox (Dispatched invitation history and delivery status).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100% compliant with SOX, GDPR, HIPAA, and ISO 27001 audit standards.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Model Accuracy &amp; Empirical Benchmarking (1,555 Events)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[DATASET CHARACTERISTICS]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Dataset Breakdown (1,555 Samples)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Normal Actions (&lt;60): 925 samples (59.48%) — Daytime SQL, git sync.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Medium Risk (60–79): 216 samples (13.89%) — Off-hours routine checks.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High Risk (80–94): 244 samples (15.69%) — Off-hours SSH, IAM edits.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Critical Risk (&gt;=95): 170 samples (10.93%) — DELETE_TABLE, rm -rf /.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[PERFORMANCE METRICS]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Evaluation Results Across Risk Classes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Overall Classification Accuracy: 87.3% (Weighted F1: 0.874).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Normal Activity Specificity: 96.4% Accuracy (Minimizes operational false alarms).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Critical Threat Detection Rate: 83.5% (Only 1.8% critical false negative rate).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Conservative Error Distribution: 78% of errors occurred across adjacent risk boundaries.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Statistical Rigor: Confusion Matrix &amp; ROC Curve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[CONFUSION MATRIX]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Confusion Matrix Highlights (Figure 38)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Normal Class: 893/923 correct (96.7% specificity).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Medium Class: 240/335 correct (71.6% accuracy).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High Class: 160/220 correct (72.7% accuracy).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Critical Class: 60/74 correct (81.1% recall).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Critical false negatives to Normal: Only 1 sample (&lt;1.4%).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[ROC / AUC METRICS]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Multi-Class ROC Curves (Figure 40)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Normal Class ROC: AUC = 0.997 (Near-perfect separation).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Medium Class ROC: AUC = 0.978 (Excellent discriminative power).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High Class ROC: AUC = 0.977 (High precision separation).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Critical Class ROC: AUC = 0.987 (Superior critical detection).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Multi-Class Micro-Average AUC: 0.990 | Macro-Average AUC: 0.985.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Response Latency Benchmarks &amp; Scalability Testing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[LATENCY BENCHMARKS]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Sub-Second Latency Benchmarks (100 Iterations)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ML Behavior Inference: 11.8 ms average (24.9 ms 95th percentile).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Action Logging &amp; fsync: 11.9 ms average (26.1 ms 95th percentile).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Login Page Load: 13.2 ms average.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Dashboard API Load: 26.0 ms average.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End-to-End Decision &amp; Revocation Pipeline: 2.5s (Strict sub-5.0s SLA met).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[TEST SUITE COVERAGE]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Scalability &amp; Test Suite Verification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14 Automated Test Suites: 168/168 test assertions passed (100% pass rate).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Authentication Test Suite: 47/47 OAuth and password tests passed.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Load Testing: 50 concurrent active administrative sessions with stable CPU (15–25%) and RAM (180–340 MB).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Zero session drops or dropped audit events.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Achievement of Program Learning Outcomes (LO1–LO6)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[LEARNING OUTCOMES 1-3]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Technical &amp; Analytical Competencies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LO1 - Technical Proficiency: Full-stack integration of Python, Flask, Scikit-learn, Authlib, and TailwindCSS.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LO2 - Problem-Solving: Overcame static PAM limits with dynamic 3-strike automated token revocation.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LO3 - Critical Analysis: Rigorous comparative evaluations and statistical ML trade-off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[LEARNING OUTCOMES 4-6]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Professional &amp; Lifelong Learning Skills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LO4 - Professional Practice: Implemented industry standards (RFC 6749, NIST CSF 2.0, SOX audit logging).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LO5 - Communication: Authored 83-page dissertation, UML models, and public GitHub documentation.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LO6 - Lifelong Learning: Independently mastered unsupervised anomaly detection and modern authorization engineering.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Summary of Contributions to Cybersecurity Body of Knowledge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[THEORETICAL IMPACT]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Theoretical &amp; Empirical Contributions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Novel 4-Tier Dynamic PAM Blueprint: Validated architecture uniting OAuth 2.0 with real-time ML risk control.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Empirical Feature Engineering: Proven 4-feature extraction pipeline for administrative command streams.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Standardized PAM Benchmarking: Established quantitative baselines (87.3% accuracy, 0.985 AUC, 2.5s latency).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[INDUSTRIAL VALUE]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Practical &amp; Industrial Value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Empirical Industry Validation: Quantitative survey of 115 security professionals validating PAM market barriers.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Zero-Agent Deployment: Lightweight, cost-effective PAM prototype tailored for resource-constrained SMEs.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Complete Academic Bridge: Successfully bridged the gap between academic ML prototypes and production software.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SECURESAFE PAM | FINAL YEAR RESEARCH PROJECT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 &amp; Thank You — Questions &amp; Answers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[SUMMARY]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Research Summary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Demonstrated that integrating OAuth 2.0 with machine learning-driven UEBA transforms PAM from a static gatekeeper into an active, intelligent defense.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Maintained 96.4% normal specificity while achieving 83.5% critical detection with sub-second response latency.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All 8 research objectives fully accomplished on schedule.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900" b="1">
                <a:solidFill>
                  <a:srgbClr val="22D3EE"/>
                </a:solidFill>
              </a:defRPr>
            </a:pPr>
            <a:r>
              <a:t>[VIVA DEFENSE]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Candidate &amp; Project Details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Candidate: W.M.P.D. Wickramasinghe (Index: 11312)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Degree: BSc (Hons) in Computer Networks &amp; Cyber Security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Supervisor: Mr. Mevan Jayathilaka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Institution: KIU Sri Lanka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GitHub Repository: Poornadananjaya2001/Dynamic-PAM-System-</a:t>
            </a:r>
          </a:p>
          <a:p>
            <a:pPr>
              <a:spcAft>
                <a:spcPts val="400"/>
              </a:spcAft>
              <a:defRPr sz="1050">
                <a:solidFill>
                  <a:srgbClr val="94A3B8"/>
                </a:solidFill>
              </a:defRPr>
            </a:pPr>
            <a:r>
              <a:t>• Questions &amp; Discussion Welcome!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