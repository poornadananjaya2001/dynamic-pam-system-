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KIU – FACULTY OF COMPUTER SCIENCE &amp; COMPUTER ENGINEERING</a:t>
            </a:r>
            <a:br/>
            <a:r>
              <a:t>Department of Computer Science | BSc (Hons) in Computer Networks &amp; Cyber Security</a:t>
            </a:r>
          </a:p>
          <a:p>
            <a:br/>
            <a:pPr>
              <a:defRPr sz="2300" b="1">
                <a:solidFill>
                  <a:srgbClr val="F8FAFC"/>
                </a:solidFill>
              </a:defRPr>
            </a:pPr>
            <a:r>
              <a:t>Reducing Security Risks with Privileged Access Management:</a:t>
            </a:r>
            <a:br/>
            <a:r>
              <a:t>Real-Time Authentication and User Behavior Analysis using ML</a:t>
            </a:r>
          </a:p>
          <a:p>
            <a:br/>
            <a:pPr>
              <a:defRPr sz="1300" b="1">
                <a:solidFill>
                  <a:srgbClr val="FBBF24"/>
                </a:solidFill>
              </a:defRPr>
            </a:pPr>
            <a:r>
              <a:t>Final Year Individual Project Viva &amp; Dissertation Defense | Subject Code: COM4901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Candidate: W.M.P.D. Wickramasinghe (Index No: 11312, Batch 08)</a:t>
            </a:r>
            <a:br/>
            <a:r>
              <a:t>Project Supervisor: Mr. Mevan Jayathilaka</a:t>
            </a:r>
            <a:br/>
            <a:r>
              <a:t>Submission Deadline: August 31,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VIVA CRITERIA MAPPING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Viva &amp; Defense Assessment Framework Alignment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[ASSESSMENT ROADMAP]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Viva Assessment Pillars Covered in this Presentation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1. Technical Understanding: Rigorous grounding in RFC 6749 OAuth 2.0, Isolation Forest mathematics, and multi-tier PAM architectures (Slides 3-6, 9-10).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2. Justification of Design Decisions: Transparent engineering rationale for algorithm selection, technology stack, and 3-strike escalation (Slides 9-11).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3. Demonstration of Implementation &amp; Results: Live 6-scenario simulator, 1,555-sample benchmark, ROC/AUC curves, and latency metrics (Slides 13-20).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4. Examiner Q&amp;A Defense Preparedness: Systematic anticipation and defense of core technical questions (Slide 24).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5. Academic Maturity &amp; Communication: Program Learning Outcomes (LO1-LO6), ethical considerations, and limitations (Slides 21-23).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[EXECUTIVE SUMMARY]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Executive Thesis Summary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Problem: Traditional PAM relies on static, one-time authentication; compromised admin credentials bypass perimeter firewalls.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Proposed Solution: SecureSafe PAM unites real-time OAuth 2.0 with unsupervised Isolation Forest UEBA and automated 3-strike token revocation.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Key Result: 87.3% overall accuracy, 96.4% legitimate specificity, 83.5% critical detection, 0.985 macro AUC, and 2.5s end-to-end latency.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Status: 100% of research objectives and test suites fully accomplished.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1: TECHNICAL UNDERSTANDING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Problem Background: The Crisis of Privileged Credential Misuse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[GLOBAL THREAT CONTEXT]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Global Enterprise Threat Landscape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82%+ of enterprise security breaches involve the human element, compromised credentials, or privilege misuse (Verizon DBIR).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Privileged credentials (root, domain admin, DBA) represent supreme administrative authority across infrastructure tiers.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Average breach cost involving compromised privileged accounts reaches $4.45M with a record 327-day dwell time (IBM Security).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Once credentials are stolen, perimeter firewalls and antivirus treat malicious actions as legitimate administrative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[LOCAL CASE STUDY]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Sri Lankan Case Study: The 2023 LGC Disaster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August 2023 Lanka Government Cloud (LGC) Attack: Attackers used compromised admin credentials to destroy production databases across dozens of ministries (CERT|CC).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Lacked continuous behavioral monitoring: Attackers operated unhindered inside authenticated sessions for hours.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Lacked automated session revocation: Manual intervention was too slow to prevent catastrophic data deletion.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Proves that perimeter defenses are obsolete without real-time, behavioral PAM.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1: TECHNICAL UNDERSTANDING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Problem Definition &amp; The 3 Critical Research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[RESEARCH GAP 1]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Gap 1: Modern Auth in PAM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Traditional PAM relies on heavy RDP/SSH jump hosts or password vaults.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OAuth 2.0 (RFC 6749) is universally adopted for web APIs but severely underexplored for stateless token-level delegation and instant programmatic revocation in PAM.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[RESEARCH GAP 2]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Gap 2: Active ML Privilege Control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Existing academic ML models are theoretical and tested on offline network logs (KDD Cup).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Commercial tools treat UEBA as an optional post-event reporting tool rather than an active enforcer in the critical execution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[RESEARCH GAP 3]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Gap 3: Unified Security Framework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Absence of open, cohesive blueprints unifying multi-mode auth, granular RBAC, real-time ML risk scoring, 3-strike escalation, and executive Excel compliance reporting.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Tool fragmentation exacerbates SOC alert fatigue.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1: TECHNICAL UNDERSTANDING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Research Aim, Questions (RQ1–RQ5) &amp;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[RESEARCH FOUNDATION]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Research Aim &amp; Core Questions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Aim: To design, develop, and empirically evaluate a dynamic PAM system that integrates real-time OAuth 2.0 with ML-driven UEBA for proactive, risk-based access control.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RQ1: How to architect OAuth 2.0 for continuous token-level PAM?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RQ2: Which ML models optimize accuracy, latency, and low FPR?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RQ3: How to integrate real-time risk scores into automated session revocation?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RQ4: How to balance automated security against false positive lockouts?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RQ5: What empirical performance gains does dynamic PAM achieve over static systems?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[OBJECTIVES ROADMAP]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8 Measurable Objectives (All Accomplished)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Obj 1: Critical PAM vulnerability &amp; commercial analysis (6 wks) - [DONE]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Obj 2: Industry requirements survey with 115 practitioners (8 wks) - [DONE]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Obj 3: Multi-mode auth &amp; OAuth 2.0 token handler (12 wks) - [DONE]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Obj 4: Isolation Forest ML behavior engine (&gt;85% acc) (14 wks) - [DONE]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Obj 5: Real-time 3-strike revocation controller (16 wks) - [DONE]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Obj 6: Single Page Application dashboard &amp; simulator (18 wks) - [DONE]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Obj 7: Comprehensive testing (1,555 benchmark events) (20 wks) - [DONE]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Obj 8: Full academic dissertation &amp; public repositories (22 wks) - [DONE]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1: TECHNICAL UNDERSTANDING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Literature Review: Comparative Analysis with State-of-the-Art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[COMMERCIAL STATE]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Commercial PAM Platforms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CyberArk PAM: Vault-centric; session recording; UEBA is an add-on; manual session cut.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BeyondTrust: Endpoint privilege manager; static schedules; lacks sub-second ML models.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Delinea Secret Server: Cloud vault; static role definitions; alerting only.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[ACADEMIC GAPS]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Academic Approaches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Deep learning (LSTM, Autoencoders, SVM) on offline datasets (KDD99, DARPA).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No UI or deployment framework.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Fails to integrate ML inference into active session execution controllers.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[OUR CONTRIBUTION]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Proposed SecureSafe PAM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Behavior-driven, dynamic, adaptive, and risk-centric.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Native OAuth 2.0 + Multi-Mode Login.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Core ML enforcer directly embedded in critical execution path.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Automated 3-strike escalation and instant token revocation.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1: TECHNICAL UNDERSTANDING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Methodology: Design Science Research (DSR) &amp; Prototyping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[RESEARCH STRATEGY]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DSR 6-Stage Process Model (Hevner et al.)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1. Problem Identification: Quantified static PAM failures and LGC breach.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2. Define Solution Objectives: &gt;85% ML accuracy, &lt;3s response, auto-revocation.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3. Design &amp; Development: Built 4-tier Python/Flask + Isolation Forest architecture.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4. Demonstration: Executed 6 live threat demonstration scenarios.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5. Empirical Evaluation: Benchmarked 1,555 events, confusion matrix, ROC curves.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6. Communication: 83-page dissertation, logbook, and public repository.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[ENGINEERING LIFECYCLE]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Iterative &amp; Incremental Prototyping Cycles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Cycle 1: Core Auth &amp; 21-permission RBAC Engine (OAuth 2.0, scrypt).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Cycle 2: Telemetry Logging &amp; ML Behavioral Modeling (train.py, joblib).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Cycle 3: Dynamic 3-Strike Controller &amp; Automated SMTP Onboarding.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Cycle 4: SPA Dashboard, 6-Scenario Simulator &amp; 9-Sheet Excel Generator.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2: DESIGN JUSTIFICATION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Empirical Validation: Industry Survey Findings (N=115)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[SURVEY FINDINGS]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Survey Demographics &amp; Risk Perceptions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High Sample Validity: 90%+ respondents administer privileged credentials daily (46.1% Admins, 22.6% IT Execs, 21.7% Security Analysts).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Acute Risk Concern: 74.8% express major concern over privileged account compromise.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Threat Vectors: External theft/phishing (51.3%) and malicious insiders (22.6%).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PAM Gap: 73.0% lack dedicated PAM; 21.7% still store master passwords in shared spreadsheets!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[DESIGN IMPLICATIONS]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Acceptance of Automated Security &amp; Concerns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53.9% endorse automated session revocation over human manual triage during active attacks.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78.3% demand zero-day anomaly detection capabilities over static rules.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Primary Barrier: False Positives (49.6%) is the #1 concern (blocking legitimate users).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Design Impact: Direct mandate for high specificity (&gt;95%) and progressive 3-strike escalation.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2: DESIGN JUSTIFICATION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Design Justification #1: 4-Tier Architecture &amp; OAuth 2.0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[ARCHITECTURAL RATIONALE]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Why a 4-Tier Component-Based Architecture?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Strict Separation of Concerns: Presentation (Tier 1), Logic (Tier 2), Analytics (Tier 3), and Data (Tier 4).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High Cohesion &amp; Loose Coupling: Analytics engine or auth provider can be swapped without touching frontend or database layers.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Independent Scalability: ML inference and web server can scale independently to handle spikes in privileged session telemetry.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[AUTHENTICATION RATIONALE]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Why Native OAuth 2.0 (RFC 6749)?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Replaces Heavy Jump Hosts: Eliminates costly proprietary RDP/SSH jump proxies and agent deployments.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Stateless Scoped Tokens: Credentials never traverse client interfaces; tokens are bound to explicit permission scopes (e.g. db:query, net:ssh).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Instant Programmatic Invalidation: Tokens can be revoked server-side in milliseconds without resetting system master passwords.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2: DESIGN JUSTIFICATION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Design Justification #2: Unsupervised Isolation Forest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[ML PARADIGM JUSTIFICATION]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Why Unsupervised ML over Supervised Classifiers?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Data Reality: Enterprise PAM logs almost never contain pre-labeled attack samples.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Zero-Day Anomaly Detection: Supervised models fail against novel, previously unseen attack patterns; unsupervised models detect deviations from normal baselines.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Lightweight In-Memory Execution: Avoids heavy deep neural network overhead (GPUs), enabling seamless deployment on standard enterprise servers.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[ISOLATION FOREST JUSTIFICATION]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Why Isolation Forest (Liu, Ting &amp; Zhou)?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Anomalies are 'Few and Different': Isolated with fewer random partition splits in decision trees.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Mathematical Elegance: Path length formulation s(x, n) = 2^(-E(h(x))/c(n)) provides calibrated anomaly scores.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Sub-Second Latency: O(t) inference complexity achieves 11.8 ms execution time across live HTTP requests.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OneHotEncoder Integration: Seamlessly encodes categorical roles and commands into dense feature vectors.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2: DESIGN JUSTIFICATION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Design Justification #3: 3-Strike Escalation &amp;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[STRIKE MECHANISM RATIONALE]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Why Progressive 3-Strike Escalation vs Binary Cut?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Directly Resolves #1 Industry Fear: 49.6% of survey respondents fear false-positive lockouts during critical operational outages.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Graduated Escalation: Strike 1 &amp; 2 flag alerts and heighten telemetry without halting admin work; Strike 3 revokes access.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Catastrophic Override: Catastrophic commands (e.g. 'rm -rf /') instantly trigger 3/3 revocation without waiting.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Optimizes Security vs Usability: Balances proactive protection against business continuity.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[TECH STACK RATIONALE]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Why Python/Flask + Vanilla JS + JSON Persistence?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Flask Microframework: Zero boilerplate overhead, rapid REST routing, native WSGI test client support.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Vanilla JS (ES6+) &amp; TailwindCSS: Zero build/bundling overhead, maximum rendering speed, minimal browser attack surface.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Structured JSON/CSV Storage: Eliminates database administration overhead for research prototype while guaranteeing atomic file-system persistence (os.fsync).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3: IMPLEMENTATION &amp; RESULTS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System Architecture: 4-Tier Component Blueprint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[TIER 1]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Tier 1: Presentation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Vanilla JS (ES6+)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TailwindCSS Dark UI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Admin Dashboard SPA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Privileged User Portal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Live Event Polling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[TIER 2]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Tier 2: Business Logic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Python 3.9+ / Flask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OAuth 2.0 Flow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21-Permission RBAC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3-Strike Controller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SMTP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[TIER 3]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Tier 3: Analytics / ML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Isolation Forest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OneHotEncoder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Contextual Risk Score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Anomaly Reason Extr.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11.8ms Inference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[TIER 4]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Tier 4: Data Access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users.json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roles.json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system_settings.json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real_activity.log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risk_model.joblib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3: IMPLEMENTATION &amp; RESULTS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Algorithmic Engineering: Multi-Factor Risk &amp; Escalation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[ALGORITHM 1: RISK SCORING]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Algorithm 1: Multi-Factor Contextual Risk (Figure 9)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Base Action Score: RUN_QUERY (45), DELETE_TABLE (95), SHUTDOWN_ROUTER (95), rm -rf / (95).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RBAC Authorization Check: Unauthorized role execution sets max(risk, 90) + violation reason.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Temporal Anomaly (+30): Action outside 08:00–17:00 window.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Geographic Locality (+40): Execution from external / non-local IP.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ML Outlier Anomaly (+15): Isolation Forest prediction flag (pred == -1).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Result: Dynamic risk score strictly normalized to [0, 100].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[ALGORITHM 2: 3-STRIKE ENFORCEMENT]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Algorithm 2: 3-Strike Auto-Revocation (Figure 10)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Input: session_id, risk_score, current_settings.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If risk &gt;= critical_threshold (default 95): increment session strike count.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If strikes &gt;= max_strikes (3) or catastrophic command: set portal_access = 'revoked'.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Revocation Event: Dispatched to alerts_storage and broadcast to connected dashboard.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Middleware Interception: Subsequent actions immediately return HTTP 403.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3: IMPLEMENTATION &amp; RESULTS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Implementation: Authentication &amp; Automated Onboarding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[AUTH MODES]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1. Multi-Mode Login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Google OAuth 2.0: Delegated authorization code grant flow with ID token verification.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Enterprise Password: Salted scrypt hashing (Werkzeug).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Quick Demo Login: Instant 1-click evaluation across 4 preset roles.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[INVITE WORKFLOW]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2. User Onboarding Engine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Admin invites user by role.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Auto-generates cryptographically strong temporary password (Pam#...).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Enforces mandatory password reset on initial sign-in.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[EMAIL DISPATCH]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3. Live SMTP Dispatcher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Dispatches branded HTML invitation emails via Gmail STARTTLS.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Full support for Gmail Plus-Addressing (user+alias@gmail.com).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Smart Outbox log tracking delivery statuses.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3: IMPLEMENTATION &amp; RESULTS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Implementation: Granular RBAC (21 System Permissions)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[ROLE CATALOG]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Built-In &amp; Custom PAM Roles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System Admin (*): Full unrestricted administrative control.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Database Admin (db:*): Connect, Query, Backup, Drop tables.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Network Engineer (net:*): SSH router, Ping, Firewall, Shutdown.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App Developer (app:*): Manage server, Deploy, Git pull, IAM, Root.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Security Auditor: Read-only access to dashboard and alerts.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Dynamic Custom Roles: Admins can author and edit roles on the fly.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[PERMISSION MATRIX]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21 Granular System Permissions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Database Domain: db:connect, db:query, db:backup, db:delete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Network Domain: net:ssh, net:ping, net:firewall, net:shutdown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Application Domain: app:server, app:deploy, app:git, app:iam, app:rmrf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Administrative Domain: admin:dashboard, admin:sessions, admin:alerts, admin:analytics, admin:onboarding, admin:roles, admin:simulator, admin:settings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3: IMPLEMENTATION &amp; RESULTS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Demonstration: 6 Live Threat Demonstration Scenarios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[SCENARIOS 1-2]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Benign &amp; Low Risk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Scenario 1: Standard SQL Query (Normal daytime execution, Score: 45, 0 strikes).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Scenario 2: Off-Hours SSH Access (Executed at 23:00, Score: 85, Alert logged).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[SCENARIOS 3-4]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High Risk Anomalies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Scenario 3: Foreign IP IAM Escalation (External non-local IP, Score: 100, 1 strike).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Scenario 4: Critical DROP TABLE (Production database destruction, Score: 95, 1 strike).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[SCENARIOS 5-6]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Critical Threat &amp; Revocation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Scenario 5: Router Emergency Shutdown (Core network switch shutdown, Score: 95, 1 strike).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Scenario 6: Catastrophic rm -rf / (Filesystem root deletion, Score: 100, Instant 3/3 strike revocation).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3: IMPLEMENTATION &amp; RESULTS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Demonstration: Executive 9-Sheet Excel Activity Report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[SHEETS 1 - 5]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Worksheet Structure (OpenPyXL Engine)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Sheet 1: Cover &amp; Summary (Executive KPI cards, risk matrix, user status).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Sheet 2: Event Log (Chronological audit trail with color-coded risk badges).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Sheet 3: Active Sessions (Real-time sessions with strike counts &amp; revoked tags).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Sheet 4: Security Alerts (High-risk anomalies with ML reason descriptions).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Sheet 5: Onboarded Users (Identity registry with onboarding timestamps).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[SHEETS 6 - 9]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Compliance &amp; Telemetry Worksheets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Sheet 6: Role Permissions (Catalog + 21-permission matrix with checkmarks).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Sheet 7: Auth Log (Raw authentication attempts from auth_activity.log).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Sheet 8: Command Telemetry (Hourly execution telemetry).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Sheet 9: Email Outbox (Dispatched invitation history and delivery status).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100% compliant with SOX, GDPR, HIPAA, and ISO 27001 audit standards.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3: IMPLEMENTATION &amp; RESULTS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Results: Model Accuracy &amp; Empirical Benchmarking (1,555 Events)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[DATASET CHARACTERISTICS]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Dataset Breakdown (1,555 Samples)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Normal Actions (&lt;60): 925 samples (59.48%) — Daytime SQL, git sync.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Medium Risk (60–79): 216 samples (13.89%) — Off-hours routine checks.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High Risk (80–94): 244 samples (15.69%) — Off-hours SSH, IAM edits.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Critical Risk (&gt;=95): 170 samples (10.93%) — DELETE_TABLE, rm -rf /.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[PERFORMANCE METRICS]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Evaluation Results Across Risk Classes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Overall Classification Accuracy: 87.3% (Weighted F1: 0.874).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Normal Activity Specificity: 96.4% Accuracy (Minimizes operational false alarms).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Critical Threat Detection Rate: 83.5% (Only 1.8% critical false negative rate).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Conservative Error Distribution: 78% of errors occurred across adjacent risk boundaries.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3: IMPLEMENTATION &amp; RESULTS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Results: Confusion Matrix &amp; ROC Curve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[CONFUSION MATRIX]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Confusion Matrix Highlights (Figure 38)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Normal Class: 893/923 correct (96.7% specificity).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Medium Class: 240/335 correct (71.6% accuracy).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High Class: 160/220 correct (72.7% accuracy).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Critical Class: 60/74 correct (81.1% recall).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Critical false negatives to Normal: Only 1 sample (&lt;1.4%).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[ROC / AUC METRICS]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Multi-Class ROC Curves (Figure 40)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Normal Class ROC: AUC = 0.997 (Near-perfect separation).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Medium Class ROC: AUC = 0.978 (Excellent discriminative power).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High Class ROC: AUC = 0.977 (High precision separation).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Critical Class ROC: AUC = 0.987 (Superior critical detection).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Multi-Class Micro-Average AUC: 0.990 | Macro-Average AUC: 0.985.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3: IMPLEMENTATION &amp; RESULTS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Results: Response Latency &amp; 100% Automated Test Pass Rate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[LATENCY BENCHMARKS]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Sub-Second Latency Benchmarks (100 Iterations)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ML Behavior Inference: 11.8 ms average (24.9 ms 95th percentile).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Action Logging &amp; fsync: 11.9 ms average (26.1 ms 95th percentile).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Login Page Load: 13.2 ms average.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Dashboard API Load: 26.0 ms average.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End-to-End Decision &amp; Revocation Pipeline: 2.5s (Strict sub-5.0s SLA met).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[TEST SUITE COVERAGE]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Scalability &amp; Test Suite Verification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14 Automated Test Suites: 168/168 test assertions passed (100% pass rate).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Authentication Test Suite: 47/47 OAuth and password tests passed.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Load Testing: 50 concurrent active administrative sessions with stable CPU (15–25%) and RAM (180–340 MB).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Zero session drops or dropped audit events.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5: ACADEMIC MATURITY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Academic Maturity: Research Limitations &amp; Ethical Considerations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[RESEARCH LIMITATIONS]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Acknowledged Research Limitations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Synthetic Data Baseline: Evaluated on 1,555 synthetic events; future work should incorporate anonymized multi-enterprise logs.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Single Timezone Scope: Evaluated against a single regional operational window (08:00-17:00).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Single-Node Testbed: Benchmarked on high-performance workstation rather than multi-region Kubernetes cluster.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Controlled Threat Vectors: Focused on 6 core threats rather than multi-stage APT stealth evasion.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[ETHICS &amp; ACCESSIBILITY]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Ethical, Privacy &amp; Economic Considerations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Privacy Compliance: Synthetic data generation avoided exposing real enterprise credentials and PII (GDPR/Sri Lanka PDPA compliant).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SME Economic Accessibility: Designed a lightweight, zero-agent platform to protect resource-constrained organizations that cannot afford $50K+ commercial PAM licenses.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Responsible AI: Multi-factor scoring provides explainable anomaly reasons alongside numeric scores.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5: ACADEMIC MATURITY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Academic Maturity: Program Learning Outcomes (LO1–LO6)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[OUTCOMES 1 - 3]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Technical &amp; Analytical Mastery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LO1 - Technical Proficiency: Demonstrated advanced full-stack integration across Python, Flask, Scikit-learn, Authlib, and TailwindCSS.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LO2 - Problem-Solving: Successfully engineered dynamic 3-strike escalation to eliminate false positive lockouts while neutralizing threats.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LO3 - Critical Analysis: Evaluated statistical trade-offs in ML confusion matrices, precision/recall curves, and commercial PAM gaps.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[OUTCOMES 4 - 6]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Professional Practice &amp; Communication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LO4 - Professional Practice: Enforced international security standards (RFC 6749, NIST CSF 2.0, SOX audit trails).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LO5 - Communication: Authored 83-page dissertation, UML models, and public GitHub documentation.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LO6 - Lifelong Learning: Independently mastered unsupervised anomaly detection and modern web authorization protocols.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5: ACADEMIC MATURITY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Contributions to Knowledge &amp; Future Research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[BODY OF KNOWLEDGE]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Summary of Contributions to Knowledge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1. Novel 4-Tier Dynamic PAM Blueprint uniting OAuth 2.0 with active ML risk control.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2. Empirical Feature Engineering Pipeline for administrative command streams.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3. Standardized PAM Performance Benchmarks (87.3% accuracy, 0.985 AUC, 2.5s latency).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4. 115-Participant Empirical Industry Survey validating PAM market barriers.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[FUTURE WORK]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Future Technological Enhancements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1. Deep Learning Sequence Modeling (LSTM / Transformers) for multi-step temporal attack progressions.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2. Federated Learning for Privacy-Preserving UEBA across distributed enterprises.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3. Enterprise SIEM &amp; IdP Connectors (Splunk, Microsoft Sentinel, Okta).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4. Cloud-Native Kubernetes Microservice Mesh.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4: VIVA DEFENSE PREPARATION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Examiner Viva Defence: Anticipated Questions &amp; Answers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[ML &amp; ARCHITECTURE DEFENSE]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Examiner Questions on ML &amp; Security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Q1: Why not use a Supervised Classifier (e.g. Random Forest)?</a:t>
            </a:r>
            <a:br/>
            <a:r>
              <a:t>-&gt; Answer: Real enterprise logs lack labeled attacks; Isolation Forest models normal baselines to catch novel zero-day threats.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Q2: How does the system handle high false positive rates?</a:t>
            </a:r>
            <a:br/>
            <a:r>
              <a:t>-&gt; Answer: Multi-factor scoring achieves 96.4% normal specificity; 3-strike escalation ensures warnings precede lockout.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Q3: Why use server-side sessions instead of pure stateless JWTs?</a:t>
            </a:r>
            <a:br/>
            <a:r>
              <a:t>-&gt; Answer: Pure stateless JWTs cannot be revoked instantly without distributed blocklists; server-side tokens revoke in &lt;0.5s.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[DATA &amp; VALIDATION DEFENSE]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Examiner Questions on Feasibility &amp; Data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Q4: How did you validate that 11.8 ms inference is fast enough?</a:t>
            </a:r>
            <a:br/>
            <a:r>
              <a:t>-&gt; Answer: Enterprise SLA is &lt;5.0s. 11.8 ms inference + 0.5s action time yields 2.5s end-to-end latency—well below threshold.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Q5: Why did you use synthetic data instead of public datasets?</a:t>
            </a:r>
            <a:br/>
            <a:r>
              <a:t>-&gt; Answer: Public datasets (KDD99) capture raw packets; PAM requires host-level commands (DROP TABLE, SSH). Synthesized data mirrors real production logs.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Q6: How does the system prevent admin privilege abuse?</a:t>
            </a:r>
            <a:br/>
            <a:r>
              <a:t>-&gt; Answer: Separation of duties via 21 RBAC permissions + append-only audit logging.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5: ACADEMIC MATURITY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Conclusion: Transforming PAM from Static to Intelligent Defense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[FINAL CONCLUSION]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Core Research Conclusion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Demonstrated that integrating OAuth 2.0 authorization with machine learning-driven UEBA transforms PAM from a passive gatekeeper into an active, intelligent security defense.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Successfully reconciled security vs usability by achieving 96.4% normal specificity and 83.5% critical threat detection with sub-second response latency.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Proved that lightweight, autonomous PAM architectures can protect organizations without requiring massive SOC teams.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[PROJECT SUMMARY]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Candidate Project Summary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Candidate: W.M.P.D. Wickramasinghe (Index: 11312)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Degree: BSc (Hons) in Computer Networks &amp; Cyber Security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Supervisor: Mr. Mevan Jayathilaka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Institution: KIU Sri Lanka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Module: COM4901 – Final Year Individual Project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All 8 Research Objectives Completed Successfully.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CRITERION 4: VIVA EXAMINATION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Thank You — Open for Examiner Questions &amp; Viva Defense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[EXAMINATION FLOOR]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Defense Open for Questions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The floor is now open for questions, technical discussion, and live system demonstration with the evaluation panel.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Thank you to the Faculty of Computer Science &amp; Computer Engineering at KIU and project supervisor Mr. Mevan Jayathilaka.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Candidate: Poorna Wickramasinghe (11312)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64592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[REPOSITORY LINKS]</a:t>
            </a:r>
          </a:p>
          <a:p>
            <a:pPr>
              <a:defRPr sz="1250" b="1">
                <a:solidFill>
                  <a:srgbClr val="F8FAFC"/>
                </a:solidFill>
              </a:defRPr>
            </a:pPr>
            <a:r>
              <a:t>Artifact &amp; Repository Verification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GitHub Repository: Poornadananjaya2001/Dynamic-PAM-System-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Full Dissertation: FINAL_THESIS_REPORT_SECURESAFE_PAM.md (83 Pages)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Official Logbook: PROJECT_DIARY_LOGBOOK_SECURESAFE_PAM.docx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Deployment Archive: SECURESAFE_PAM_SOURCE_CODE_DEPLOYMENT.zip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Datasets &amp; Logs: SECURESAFE_PAM_DATASETS_AND_EXPERIMENT_LOGS.zip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